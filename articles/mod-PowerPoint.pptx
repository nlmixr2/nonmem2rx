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gif" ContentType="image/gif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0000"/>
    <a:srgbClr val="E08836"/>
    <a:srgbClr val="DE8400"/>
    <a:srgbClr val="902C10"/>
    <a:srgbClr val="A50021"/>
    <a:srgbClr val="898989"/>
    <a:srgbClr val="C878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38" autoAdjust="0"/>
    <p:restoredTop sz="96405"/>
  </p:normalViewPr>
  <p:slideViewPr>
    <p:cSldViewPr>
      <p:cViewPr varScale="1">
        <p:scale>
          <a:sx n="131" d="100"/>
          <a:sy n="131" d="100"/>
        </p:scale>
        <p:origin x="3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4272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handoutMaster" Target="handoutMasters/handoutMaster1.xml"/>
<Relationship Id="rId7" Type="http://schemas.openxmlformats.org/officeDocument/2006/relationships/tableStyles" Target="tableStyle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heme" Target="theme/theme1.xml"/>
<Relationship Id="rId5" Type="http://schemas.openxmlformats.org/officeDocument/2006/relationships/viewProps" Target="viewProps.xml"/>
<Relationship Id="rId4" Type="http://schemas.openxmlformats.org/officeDocument/2006/relationships/presProps" Target="presProps.xml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5B5575-5396-4903-B001-2952BE6B9F1B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CCE1-13AB-4907-8C53-954A4412C1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615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547EB-7C1B-40A0-9C00-7392B48D9156}" type="datetimeFigureOut">
              <a:rPr lang="en-GB" smtClean="0"/>
              <a:t>17/06/2022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989F4-5BC7-45C8-8C9A-BD91344270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48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8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29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97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019400"/>
            <a:ext cx="8534400" cy="17057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-204936"/>
            <a:ext cx="12192000" cy="15567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37312"/>
            <a:ext cx="12192000" cy="62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476672"/>
            <a:ext cx="10945216" cy="2448272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rgbClr val="B4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349CD0D-3304-2010-6F4C-30C08DAD57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883" y="4876221"/>
            <a:ext cx="3376233" cy="13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8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4215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head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DC6DC6-C279-6D60-9948-13C3E4D8D8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3392" y="1202136"/>
            <a:ext cx="5395912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Left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828800"/>
            <a:ext cx="5395912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828800"/>
            <a:ext cx="5395913" cy="45529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EB4F9C-92B3-A278-E210-FACFF460524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72200" y="1201738"/>
            <a:ext cx="5395913" cy="492125"/>
          </a:xfrm>
        </p:spPr>
        <p:txBody>
          <a:bodyPr/>
          <a:lstStyle>
            <a:lvl1pPr marL="0" indent="0"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Right title</a:t>
            </a:r>
          </a:p>
        </p:txBody>
      </p:sp>
    </p:spTree>
    <p:extLst>
      <p:ext uri="{BB962C8B-B14F-4D97-AF65-F5344CB8AC3E}">
        <p14:creationId xmlns:p14="http://schemas.microsoft.com/office/powerpoint/2010/main" val="334129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/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/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386147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nt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B40000"/>
                </a:solidFill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59564" y="6564883"/>
            <a:ext cx="7392821" cy="23040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3103697-C80C-C9D7-DE12-CD2A49021A1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888" y="1282430"/>
            <a:ext cx="5395912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Left list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E82F6E9-9544-AA99-945C-603F29731EB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72200" y="1282430"/>
            <a:ext cx="5395913" cy="50993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Right list</a:t>
            </a:r>
          </a:p>
        </p:txBody>
      </p:sp>
    </p:spTree>
    <p:extLst>
      <p:ext uri="{BB962C8B-B14F-4D97-AF65-F5344CB8AC3E}">
        <p14:creationId xmlns:p14="http://schemas.microsoft.com/office/powerpoint/2010/main" val="292672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31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59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1196752"/>
            <a:ext cx="10945216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59564" y="6564883"/>
            <a:ext cx="7392821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2">
                    <a:lumMod val="75000"/>
                  </a:schemeClr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/>
              <a:t>nlmix</a:t>
            </a:r>
            <a:r>
              <a:rPr lang="en-GB">
                <a:solidFill>
                  <a:srgbClr val="B40000"/>
                </a:solidFill>
              </a:rPr>
              <a:t>r</a:t>
            </a:r>
            <a:r>
              <a:rPr lang="en-GB"/>
              <a:t> development team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3392" y="6564883"/>
            <a:ext cx="1056117" cy="23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B40000"/>
                </a:solidFill>
                <a:latin typeface="+mn-lt"/>
                <a:ea typeface="Tahoma" pitchFamily="34" charset="0"/>
                <a:cs typeface="Tahoma" pitchFamily="34" charset="0"/>
              </a:defRPr>
            </a:lvl1pPr>
          </a:lstStyle>
          <a:p>
            <a:fld id="{133EA325-E17C-4431-8C79-1AEA4A39660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0B426CB-3DAD-88F5-2025-3EA5EC89371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8524" y="6239370"/>
            <a:ext cx="1400084" cy="55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1" r:id="rId9"/>
    <p:sldLayoutId id="2147483653" r:id="rId10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B40000"/>
          </a:solidFill>
          <a:latin typeface="+mn-lt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2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B40000"/>
        </a:buClr>
        <a:buFont typeface="Arial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Calibri" panose="020F0502020204030204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7ee6b1df1148360f90fb4f68cc2c1546327bdc6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66c5d3b05e094c7883d5bda61a59fe68b3be8969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d263dafa0a33ccc8ddd34755bac1af4a6f48074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d2228a96a615ec8a16d04fb4991dae34c837b0d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14baa5c152910536900d22a86dc352938ba76d5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54e277cac38abeb49b799515d207b2d915c60dfd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ff05da974874ee7559ed6dc73b0a750b163c9756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cb7a99a039ee3a197774aa0bf059db5cc248a17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7a9ba0d6d87ee5ae50de4d5379224270e696218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2bb7454865eebc7d269343fe94954fb6145e7c89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521f61a67f75feaeba31030f6dbf46b18534bee3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3b438565951de76af6bcc86230d4743493d9299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1eb93459eb84f0388a84770c64257fd3e728542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structure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Model equations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54864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cmt(</m:t>
                                </m:r>
                                <m:r>
                                  <m:t>CENTRAL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cmt(</m:t>
                                </m:r>
                                <m:r>
                                  <m:t>PERI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cl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theta1</m:t>
                                </m:r>
                                <m:r>
                                  <m:t>+</m:t>
                                </m:r>
                                <m:r>
                                  <m:t>eta1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v=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theta2</m:t>
                                </m:r>
                                <m:r>
                                  <m:t>+</m:t>
                                </m:r>
                                <m:r>
                                  <m:t>eta2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q=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theta3</m:t>
                                </m:r>
                                <m:r>
                                  <m:t>+</m:t>
                                </m:r>
                                <m:r>
                                  <m:t>eta3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v2</m:t>
                                </m:r>
                                <m: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m:t>exp</m:t>
                                </m:r>
                                <m:r>
                                  <m:t>⁡</m:t>
                                </m:r>
                                <m:r>
                                  <m:t>(</m:t>
                                </m:r>
                                <m:r>
                                  <m:t>theta4</m:t>
                                </m:r>
                                <m:r>
                                  <m:t>+</m:t>
                                </m:r>
                                <m:r>
                                  <m:t>eta4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v1</m:t>
                                </m:r>
                                <m:r>
                                  <m:t>=v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scale1</m:t>
                                </m:r>
                                <m:r>
                                  <m:t>=v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k21</m:t>
                                </m:r>
                                <m:r>
                                  <m:t>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q</m:t>
                                    </m:r>
                                  </m:num>
                                  <m:den>
                                    <m:r>
                                      <m:t>v2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k12</m:t>
                                </m:r>
                                <m:r>
                                  <m:t>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q</m:t>
                                    </m:r>
                                  </m:num>
                                  <m:den>
                                    <m:r>
                                      <m:t>v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</m:t>
                                </m:r>
                                <m:r>
                                  <m:t>k21</m:t>
                                </m:r>
                                <m:r>
                                  <m:t>×</m:t>
                                </m:r>
                                <m:r>
                                  <m:t>PERI</m:t>
                                </m:r>
                                <m:r>
                                  <m:t>−</m:t>
                                </m:r>
                                <m:r>
                                  <m:t>k12</m:t>
                                </m:r>
                                <m:r>
                                  <m:t>×</m:t>
                                </m:r>
                                <m:r>
                                  <m:t>CENTRAL</m:t>
                                </m:r>
                                <m:r>
                                  <m:t>−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cl</m:t>
                                    </m:r>
                                    <m:r>
                                      <m:t>×</m:t>
                                    </m:r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v1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d</m:t>
                                    </m:r>
                                    <m:r>
                                      <m:rPr>
                                        <m:nor/>
                                      </m:rPr>
                                      <m:t> </m:t>
                                    </m:r>
                                    <m:r>
                                      <m:t>PERI</m:t>
                                    </m:r>
                                  </m:num>
                                  <m:den>
                                    <m:r>
                                      <m:t>dt</m:t>
                                    </m:r>
                                  </m:den>
                                </m:f>
                                <m:r>
                                  <m:t>=−</m:t>
                                </m:r>
                                <m:r>
                                  <m:t>k21</m:t>
                                </m:r>
                                <m:r>
                                  <m:t>×</m:t>
                                </m:r>
                                <m:r>
                                  <m:t>PERI</m:t>
                                </m:r>
                                <m:r>
                                  <m:t>+</m:t>
                                </m:r>
                                <m:r>
                                  <m:t>k12</m:t>
                                </m:r>
                                <m:r>
                                  <m:t>×</m:t>
                                </m:r>
                                <m:r>
                                  <m:t>CENTRAL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f=</m:t>
                                </m:r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CENTRAL</m:t>
                                    </m:r>
                                  </m:num>
                                  <m:den>
                                    <m:r>
                                      <m:t>scale1</m:t>
                                    </m:r>
                                  </m:den>
                                </m:f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ipred</m:t>
                                </m:r>
                                <m:r>
                                  <m:t>=f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rescv</m:t>
                                </m:r>
                                <m:r>
                                  <m:t>=</m:t>
                                </m:r>
                                <m:r>
                                  <m:t>RSV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rPr>
                      <mc:AlternateContent xmlns:mc="http://schemas.openxmlformats.org/markup-compatibility/2006">
                        <mc:Choice xmlns:a14="http://schemas.microsoft.com/office/drawing/2010/main" Requires="a14"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ml="http://www.w3.org/1998/Math/MathML">
                                <m:r>
                                  <m:t>ipred</m:t>
                                </m:r>
                                <m:r>
                                  <m:t>∼prop(</m:t>
                                </m:r>
                                <m:r>
                                  <m:t>RSV</m:t>
                                </m:r>
                                <m:r>
                                  <m:t>)</m:t>
                                </m:r>
                              </m:oMath>
                            </m:oMathPara>
                          </a14:m>
                        </mc:Choice>
                      </mc:AlternateContent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Parameter Estimates</a:t>
            </a:r>
          </a:p>
        </p:txBody>
      </p:sp>
      <p:graphicFrame>
        <p:nvGraphicFramePr>
          <p:cNvPr id="3" name="Text Placeholder 2"/>
          <p:cNvGraphicFramePr>
            <a:graphicFrameLocks noGrp="true"/>
          </p:cNvGraphicFramePr>
          <p:nvPr/>
        </p:nvGraphicFramePr>
        <p:xfrm rot="0">
          <a:off x="623392" y="1196752"/>
          <a:ext cx="10945216" cy="5184576"/>
        </p:xfrm>
        <a:graphic>
          <a:graphicData uri="http://schemas.openxmlformats.org/drawingml/2006/table">
            <a:tbl>
              <a:tblPr/>
              <a:tblGrid>
                <a:gridCol w="993857"/>
                <a:gridCol w="660706"/>
                <a:gridCol w="838468"/>
                <a:gridCol w="667527"/>
                <a:gridCol w="2070530"/>
                <a:gridCol w="975713"/>
                <a:gridCol w="1141675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Parameter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Est.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%RSE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Back-transformed(95%CI)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BSV(CV%)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Shrink(SD)%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log Cl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0.0298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3.94 (3.71, 4.17)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32.6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1.94&lt;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log Vc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4.20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0.0295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0.703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66.6 (62.8, 70.5)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2.46&lt;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log Q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0.0547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3.98 (3.57, 4.42)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40.5&gt;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log Vp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3.88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0.0348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0.899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48.3 (45.1, 51.7)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27.5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28.4=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108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RSV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0.00315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1.61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0.196 (0.190, 0.203)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Individual and population prediction overlay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Observed vs Predicted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13388"/>
            <a:ext cx="10945216" cy="985909"/>
          </a:xfrm>
        </p:spPr>
        <p:txBody>
          <a:bodyPr/>
          <a:lstStyle/>
          <a:p>
            <a:r>
              <a:rPr/>
              <a:t>SAEM Stabilization</a:t>
            </a:r>
          </a:p>
        </p:txBody>
      </p:sp>
      <p:pic>
        <p:nvPicPr>
          <p:cNvPr id="3" name="Tex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1196752"/>
            <a:ext cx="10945216" cy="5184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ccamsPresentation">
  <a:themeElements>
    <a:clrScheme name="Custom 3">
      <a:dk1>
        <a:srgbClr val="3B3B3B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902C10"/>
      </a:accent2>
      <a:accent3>
        <a:srgbClr val="9BBB59"/>
      </a:accent3>
      <a:accent4>
        <a:srgbClr val="8064A2"/>
      </a:accent4>
      <a:accent5>
        <a:srgbClr val="4BACC6"/>
      </a:accent5>
      <a:accent6>
        <a:srgbClr val="E08836"/>
      </a:accent6>
      <a:hlink>
        <a:srgbClr val="902C10"/>
      </a:hlink>
      <a:folHlink>
        <a:srgbClr val="902C1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14DE638-5A32-4AB1-8CA5-820AF9071EC6}" vid="{FC3C1A1D-E4C3-4376-B9E9-5A1F7F3A1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Century Gothic</vt:lpstr>
      <vt:lpstr>OccamsPresentation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subject/>
  <dc:creator>John Harrold</dc:creator>
  <cp:keywords/>
  <dc:description/>
  <cp:lastModifiedBy>runner</cp:lastModifiedBy>
  <cp:revision>9</cp:revision>
  <dcterms:created xsi:type="dcterms:W3CDTF">2022-06-17T14:02:13Z</dcterms:created>
  <dcterms:modified xsi:type="dcterms:W3CDTF">2026-10-13T12:00:12Z</dcterms:modified>
  <cp:category/>
</cp:coreProperties>
</file>