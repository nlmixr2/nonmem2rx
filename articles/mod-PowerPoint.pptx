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Default Extension="gif" ContentType="image/gif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40000"/>
    <a:srgbClr val="E08836"/>
    <a:srgbClr val="DE8400"/>
    <a:srgbClr val="902C10"/>
    <a:srgbClr val="A50021"/>
    <a:srgbClr val="898989"/>
    <a:srgbClr val="C87800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238" autoAdjust="0"/>
    <p:restoredTop sz="96405"/>
  </p:normalViewPr>
  <p:slideViewPr>
    <p:cSldViewPr>
      <p:cViewPr varScale="1">
        <p:scale>
          <a:sx n="131" d="100"/>
          <a:sy n="131" d="100"/>
        </p:scale>
        <p:origin x="336" y="1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99" d="100"/>
          <a:sy n="99" d="100"/>
        </p:scale>
        <p:origin x="4272" y="184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5B5575-5396-4903-B001-2952BE6B9F1B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42CCE1-13AB-4907-8C53-954A4412C19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961563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E547EB-7C1B-40A0-9C00-7392B48D9156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3989F4-5BC7-45C8-8C9A-BD91344270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32489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63821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 marL="9144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 marL="13716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 marL="18288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082921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929785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11842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4215845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33412999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38614729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29267271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3101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9597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sv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159564" y="6564883"/>
            <a:ext cx="7392821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2">
                    <a:lumMod val="75000"/>
                  </a:schemeClr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3392" y="6564883"/>
            <a:ext cx="1056117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rgbClr val="B40000"/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20B426CB-3DAD-88F5-2025-3EA5EC89371D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168524" y="6239370"/>
            <a:ext cx="1400084" cy="553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5295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1" r:id="rId9"/>
    <p:sldLayoutId id="2147483653" r:id="rId10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2400" b="1" kern="1200">
          <a:solidFill>
            <a:srgbClr val="B40000"/>
          </a:solidFill>
          <a:latin typeface="+mn-lt"/>
          <a:ea typeface="Tahoma" pitchFamily="34" charset="0"/>
          <a:cs typeface="Tahoma" pitchFamily="34" charset="0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4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1pPr>
      <a:lvl2pPr marL="742950" indent="-28575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2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2pPr>
      <a:lvl3pPr marL="11430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0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3pPr>
      <a:lvl4pPr marL="16002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8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4pPr>
      <a:lvl5pPr marL="20574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6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e7ee6b1df1148360f90fb4f68cc2c1546327bdc6.png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66c5d3b05e094c7883d5bda61a59fe68b3be8969.png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d263dafa0a33ccc8ddd34755bac1af4a6f48074.png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ed2228a96a615ec8a16d04fb4991dae34c837b0d.pn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14baa5c152910536900d22a86dc352938ba76d5.png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4e277cac38abeb49b799515d207b2d915c60dfd.png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f05da974874ee7559ed6dc73b0a750b163c9756.png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cb7a99a039ee3a197774aa0bf059db5cc248a17.png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7a9ba0d6d87ee5ae50de4d5379224270e696218.png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bb7454865eebc7d269343fe94954fb6145e7c89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21f61a67f75feaeba31030f6dbf46b18534bee3.png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73b438565951de76af6bcc86230d4743493d9299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87bfc508eb594f3094d00c1ee71b36602f0614d0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Model structure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Model equations</a:t>
            </a:r>
          </a:p>
        </p:txBody>
      </p:sp>
      <p:graphicFrame>
        <p:nvGraphicFramePr>
          <p:cNvPr id="3" name="Text Placeholder 2"/>
          <p:cNvGraphicFramePr>
            <a:graphicFrameLocks noGrp="true"/>
          </p:cNvGraphicFramePr>
          <p:nvPr/>
        </p:nvGraphicFramePr>
        <p:xfrm rot="0">
          <a:off x="623392" y="1196752"/>
          <a:ext cx="10945216" cy="5184576"/>
        </p:xfrm>
        <a:graphic>
          <a:graphicData uri="http://schemas.openxmlformats.org/drawingml/2006/table">
            <a:tbl>
              <a:tblPr/>
              <a:tblGrid>
                <a:gridCol w="54864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cmt(</m:t>
                                </m:r>
                                <m:r>
                                  <m:t>CENTRAL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cmt(</m:t>
                                </m:r>
                                <m:r>
                                  <m:t>PERI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cl</m:t>
                                </m:r>
                                <m:r>
                                  <m:t>=</m:t>
                                </m:r>
                                <m:r>
                                  <m:rPr>
                                    <m:sty m:val="p"/>
                                  </m:rPr>
                                  <m:t>exp</m:t>
                                </m:r>
                                <m:r>
                                  <m:t>⁡</m:t>
                                </m:r>
                                <m:r>
                                  <m:t>(</m:t>
                                </m:r>
                                <m:r>
                                  <m:t>theta1</m:t>
                                </m:r>
                                <m:r>
                                  <m:t>+</m:t>
                                </m:r>
                                <m:r>
                                  <m:t>eta1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v=</m:t>
                                </m:r>
                                <m:r>
                                  <m:rPr>
                                    <m:sty m:val="p"/>
                                  </m:rPr>
                                  <m:t>exp</m:t>
                                </m:r>
                                <m:r>
                                  <m:t>⁡</m:t>
                                </m:r>
                                <m:r>
                                  <m:t>(</m:t>
                                </m:r>
                                <m:r>
                                  <m:t>theta2</m:t>
                                </m:r>
                                <m:r>
                                  <m:t>+</m:t>
                                </m:r>
                                <m:r>
                                  <m:t>eta2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q=</m:t>
                                </m:r>
                                <m:r>
                                  <m:rPr>
                                    <m:sty m:val="p"/>
                                  </m:rPr>
                                  <m:t>exp</m:t>
                                </m:r>
                                <m:r>
                                  <m:t>⁡</m:t>
                                </m:r>
                                <m:r>
                                  <m:t>(</m:t>
                                </m:r>
                                <m:r>
                                  <m:t>theta3</m:t>
                                </m:r>
                                <m:r>
                                  <m:t>+</m:t>
                                </m:r>
                                <m:r>
                                  <m:t>eta3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v2</m:t>
                                </m:r>
                                <m:r>
                                  <m:t>=</m:t>
                                </m:r>
                                <m:r>
                                  <m:rPr>
                                    <m:sty m:val="p"/>
                                  </m:rPr>
                                  <m:t>exp</m:t>
                                </m:r>
                                <m:r>
                                  <m:t>⁡</m:t>
                                </m:r>
                                <m:r>
                                  <m:t>(</m:t>
                                </m:r>
                                <m:r>
                                  <m:t>theta4</m:t>
                                </m:r>
                                <m:r>
                                  <m:t>+</m:t>
                                </m:r>
                                <m:r>
                                  <m:t>eta4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v1</m:t>
                                </m:r>
                                <m:r>
                                  <m:t>=v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scale1</m:t>
                                </m:r>
                                <m:r>
                                  <m:t>=v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k21</m:t>
                                </m:r>
                                <m:r>
                                  <m:t>=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q</m:t>
                                    </m:r>
                                  </m:num>
                                  <m:den>
                                    <m:r>
                                      <m:t>v2</m:t>
                                    </m:r>
                                  </m:den>
                                </m:f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k12</m:t>
                                </m:r>
                                <m:r>
                                  <m:t>=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q</m:t>
                                    </m:r>
                                  </m:num>
                                  <m:den>
                                    <m:r>
                                      <m:t>v</m:t>
                                    </m:r>
                                  </m:den>
                                </m:f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d</m:t>
                                    </m:r>
                                    <m:r>
                                      <m:rPr>
                                        <m:nor/>
                                      </m:rPr>
                                      <m:t> </m:t>
                                    </m:r>
                                    <m:r>
                                      <m:t>CENTRAL</m:t>
                                    </m:r>
                                  </m:num>
                                  <m:den>
                                    <m:r>
                                      <m:t>dt</m:t>
                                    </m:r>
                                  </m:den>
                                </m:f>
                                <m:r>
                                  <m:t>=</m:t>
                                </m:r>
                                <m:r>
                                  <m:t>k21</m:t>
                                </m:r>
                                <m:r>
                                  <m:t>×</m:t>
                                </m:r>
                                <m:r>
                                  <m:t>PERI</m:t>
                                </m:r>
                                <m:r>
                                  <m:t>−</m:t>
                                </m:r>
                                <m:r>
                                  <m:t>k12</m:t>
                                </m:r>
                                <m:r>
                                  <m:t>×</m:t>
                                </m:r>
                                <m:r>
                                  <m:t>CENTRAL</m:t>
                                </m:r>
                                <m:r>
                                  <m:t>−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cl</m:t>
                                    </m:r>
                                    <m:r>
                                      <m:t>×</m:t>
                                    </m:r>
                                    <m:r>
                                      <m:t>CENTRAL</m:t>
                                    </m:r>
                                  </m:num>
                                  <m:den>
                                    <m:r>
                                      <m:t>v1</m:t>
                                    </m:r>
                                  </m:den>
                                </m:f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d</m:t>
                                    </m:r>
                                    <m:r>
                                      <m:rPr>
                                        <m:nor/>
                                      </m:rPr>
                                      <m:t> </m:t>
                                    </m:r>
                                    <m:r>
                                      <m:t>PERI</m:t>
                                    </m:r>
                                  </m:num>
                                  <m:den>
                                    <m:r>
                                      <m:t>dt</m:t>
                                    </m:r>
                                  </m:den>
                                </m:f>
                                <m:r>
                                  <m:t>=−</m:t>
                                </m:r>
                                <m:r>
                                  <m:t>k21</m:t>
                                </m:r>
                                <m:r>
                                  <m:t>×</m:t>
                                </m:r>
                                <m:r>
                                  <m:t>PERI</m:t>
                                </m:r>
                                <m:r>
                                  <m:t>+</m:t>
                                </m:r>
                                <m:r>
                                  <m:t>k12</m:t>
                                </m:r>
                                <m:r>
                                  <m:t>×</m:t>
                                </m:r>
                                <m:r>
                                  <m:t>CENTRAL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f=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CENTRAL</m:t>
                                    </m:r>
                                  </m:num>
                                  <m:den>
                                    <m:r>
                                      <m:t>scale1</m:t>
                                    </m:r>
                                  </m:den>
                                </m:f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ipred</m:t>
                                </m:r>
                                <m:r>
                                  <m:t>=f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rescv</m:t>
                                </m:r>
                                <m:r>
                                  <m:t>=</m:t>
                                </m:r>
                                <m:r>
                                  <m:t>RSV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ipred</m:t>
                                </m:r>
                                <m:r>
                                  <m:t>∼prop(</m:t>
                                </m:r>
                                <m:r>
                                  <m:t>RSV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Parameter Estimates</a:t>
            </a:r>
          </a:p>
        </p:txBody>
      </p:sp>
      <p:graphicFrame>
        <p:nvGraphicFramePr>
          <p:cNvPr id="3" name="Text Placeholder 2"/>
          <p:cNvGraphicFramePr>
            <a:graphicFrameLocks noGrp="true"/>
          </p:cNvGraphicFramePr>
          <p:nvPr/>
        </p:nvGraphicFramePr>
        <p:xfrm rot="0">
          <a:off x="623392" y="1196752"/>
          <a:ext cx="10945216" cy="5184576"/>
        </p:xfrm>
        <a:graphic>
          <a:graphicData uri="http://schemas.openxmlformats.org/drawingml/2006/table">
            <a:tbl>
              <a:tblPr/>
              <a:tblGrid>
                <a:gridCol w="993857"/>
                <a:gridCol w="660706"/>
                <a:gridCol w="838468"/>
                <a:gridCol w="667527"/>
                <a:gridCol w="2070530"/>
                <a:gridCol w="975713"/>
                <a:gridCol w="1141675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Parameter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Est.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%RSE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Back-transformed(95%CI)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BSV(CV%)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Shrink(SD)%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Cl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1.37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0.0298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2.17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3.94 (3.71, 4.17)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32.6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1.94&lt;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Vc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4.20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0.0295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0.703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66.6 (62.8, 70.5)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32.3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2.46&lt;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Q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1.38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0.0547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3.96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3.98 (3.57, 4.42)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32.7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40.5&gt;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Vp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3.88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0.0348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0.899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48.3 (45.1, 51.7)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27.5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28.4=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084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RSV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0.196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0.00315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1.61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0.196 (0.190, 0.203)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Observed vs Predicted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SAEM Stabilization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ccamsPresentation">
  <a:themeElements>
    <a:clrScheme name="Custom 3">
      <a:dk1>
        <a:srgbClr val="3B3B3B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902C10"/>
      </a:accent2>
      <a:accent3>
        <a:srgbClr val="9BBB59"/>
      </a:accent3>
      <a:accent4>
        <a:srgbClr val="8064A2"/>
      </a:accent4>
      <a:accent5>
        <a:srgbClr val="4BACC6"/>
      </a:accent5>
      <a:accent6>
        <a:srgbClr val="E08836"/>
      </a:accent6>
      <a:hlink>
        <a:srgbClr val="902C10"/>
      </a:hlink>
      <a:folHlink>
        <a:srgbClr val="902C10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A14DE638-5A32-4AB1-8CA5-820AF9071EC6}" vid="{FC3C1A1D-E4C3-4376-B9E9-5A1F7F3A1C2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Century Gothic</vt:lpstr>
      <vt:lpstr>OccamsPresentation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subject/>
  <dc:creator>John Harrold</dc:creator>
  <cp:keywords/>
  <dc:description/>
  <cp:lastModifiedBy>runner</cp:lastModifiedBy>
  <cp:revision>9</cp:revision>
  <dcterms:created xsi:type="dcterms:W3CDTF">2022-06-17T14:02:13Z</dcterms:created>
  <dcterms:modified xsi:type="dcterms:W3CDTF">2026-10-13T12:21:08Z</dcterms:modified>
  <cp:category/>
</cp:coreProperties>
</file>